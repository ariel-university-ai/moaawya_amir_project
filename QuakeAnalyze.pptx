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4776206"/>
      </p:ext>
    </p:extLst>
  </p:cSld>
  <p:clrMap bg1="lt1" tx1="dk1" bg2="lt2" tx2="dk2" accent1="accent1" accent2="accent2" accent3="accent3" accent4="accent4" accent5="accent5" accent6="accent6" hlink="hlink" folHlink="folHlink"/>
  <p:notesStyle>
    <a:lvl1pPr marL="0" algn="r" defTabSz="914400" rtl="1" eaLnBrk="1" latinLnBrk="0" hangingPunct="1">
      <a:defRPr sz="1200" kern="1200">
        <a:solidFill>
          <a:schemeClr val="tx1"/>
        </a:solidFill>
        <a:latin typeface="+mn-lt"/>
        <a:ea typeface="+mn-ea"/>
        <a:cs typeface="+mn-cs"/>
      </a:defRPr>
    </a:lvl1pPr>
    <a:lvl2pPr marL="457200" algn="r" defTabSz="914400" rtl="1" eaLnBrk="1" latinLnBrk="0" hangingPunct="1">
      <a:defRPr sz="1200" kern="1200">
        <a:solidFill>
          <a:schemeClr val="tx1"/>
        </a:solidFill>
        <a:latin typeface="+mn-lt"/>
        <a:ea typeface="+mn-ea"/>
        <a:cs typeface="+mn-cs"/>
      </a:defRPr>
    </a:lvl2pPr>
    <a:lvl3pPr marL="914400" algn="r" defTabSz="914400" rtl="1" eaLnBrk="1" latinLnBrk="0" hangingPunct="1">
      <a:defRPr sz="1200" kern="1200">
        <a:solidFill>
          <a:schemeClr val="tx1"/>
        </a:solidFill>
        <a:latin typeface="+mn-lt"/>
        <a:ea typeface="+mn-ea"/>
        <a:cs typeface="+mn-cs"/>
      </a:defRPr>
    </a:lvl3pPr>
    <a:lvl4pPr marL="1371600" algn="r" defTabSz="914400" rtl="1" eaLnBrk="1" latinLnBrk="0" hangingPunct="1">
      <a:defRPr sz="1200" kern="1200">
        <a:solidFill>
          <a:schemeClr val="tx1"/>
        </a:solidFill>
        <a:latin typeface="+mn-lt"/>
        <a:ea typeface="+mn-ea"/>
        <a:cs typeface="+mn-cs"/>
      </a:defRPr>
    </a:lvl4pPr>
    <a:lvl5pPr marL="1828800" algn="r" defTabSz="914400" rtl="1" eaLnBrk="1" latinLnBrk="0" hangingPunct="1">
      <a:defRPr sz="1200" kern="1200">
        <a:solidFill>
          <a:schemeClr val="tx1"/>
        </a:solidFill>
        <a:latin typeface="+mn-lt"/>
        <a:ea typeface="+mn-ea"/>
        <a:cs typeface="+mn-cs"/>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שלום, אנחנו מציגים את QuakeAnalyze.
המטרה היא לנתח נתוני רעידות אדמה ולחזות את רמת הסיכון של אירוע: low, medium או high.
האפליקציה בנויה ב-Streamlit ומחולקת לניתוח נתונים, מודל, וחיזוי אינטראקטיבי.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כאן אני מסביר את הסיפור: יש נתונים, אבל צריך להפוך אותם לתשובה פשוטה.
המודל מקבל מאפיינים סייסמיים ומחזיר רמת סיכון.
השקופית הזו מחברת בין M1 לבין M2 ו-M3.</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הנתונים שלנו כוללים 1,256 אירועים.
כל שורה היא רעידת אדמה, וכל עמודה היא תכונה של האירוע.
העמודות האלה הן הבסיס ל-EDA ולמודל.</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בלשונית EDA אנחנו מציגים מדדי בסיס וגרפים.
היסטוגרמה מראה באילו טווחי magnitude נמצאות רוב הרעידות.
גרף פיזור Depth vs Magnitude מראה קשר בין עומק לעוצמה ובודק האם המשתנים האלה יכולים לעזור לסיווג.</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בחרנו Logistic Regression כי הוא מתאים לסיווג וקל להסביר אותו.
המודל מקבל את חמשת המאפיינים ומחזיר low, medium או high.
הנתונים חולקו לאימון ובדיקה, ובבדיקה התקבל דיוק של כ-72%.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ב-Confusion Matrix רואים את התחזיות הנכונות על האלכסון ואת הטעויות מחוץ לאלכסון.
גרף המקדמים מסביר את המודל: מקדם חיובי מעלה את הסיכוי למחלקה, מקדם שלילי מוריד.
לדוגמה, mmi גבוה דוחף יותר לכיוון high ופחות לכיוון low.</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בלשונית Predict Risk המשתמש מזין ערכי רעידת אדמה חדשה.
המודל מחזיר סיווג וגם הסתברויות לכל מחלקה.
זה מוכיח שהגענו לאב-טיפוס עובד: הנתונים, המודל והחיזוי כולם מחוברים באפליקציה אחת.</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8FAFC"/>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30200"/>
            <a:ext cx="11155680" cy="502920"/>
          </a:xfrm>
          <a:prstGeom prst="rect">
            <a:avLst/>
          </a:prstGeom>
          <a:noFill/>
          <a:ln/>
        </p:spPr>
        <p:txBody>
          <a:bodyPr wrap="square" lIns="0" tIns="0" rIns="0" bIns="0" rtlCol="0" anchor="ctr"/>
          <a:lstStyle/>
          <a:p>
            <a:pPr marL="0" indent="0" algn="r">
              <a:buNone/>
            </a:pPr>
            <a:r>
              <a:rPr lang="en-US" sz="2800" b="1" dirty="0">
                <a:solidFill>
                  <a:srgbClr val="15213A"/>
                </a:solidFill>
                <a:latin typeface="Arial" pitchFamily="34" charset="0"/>
                <a:ea typeface="Arial" pitchFamily="34" charset="-122"/>
                <a:cs typeface="Arial" pitchFamily="34" charset="-120"/>
              </a:rPr>
              <a:t>QuakeAnalyze</a:t>
            </a:r>
            <a:endParaRPr lang="en-US" sz="2800" dirty="0"/>
          </a:p>
        </p:txBody>
      </p:sp>
      <p:sp>
        <p:nvSpPr>
          <p:cNvPr id="3" name="Text 1"/>
          <p:cNvSpPr/>
          <p:nvPr/>
        </p:nvSpPr>
        <p:spPr>
          <a:xfrm>
            <a:off x="502920" y="896112"/>
            <a:ext cx="11155680" cy="329184"/>
          </a:xfrm>
          <a:prstGeom prst="rect">
            <a:avLst/>
          </a:prstGeom>
          <a:noFill/>
          <a:ln/>
        </p:spPr>
        <p:txBody>
          <a:bodyPr wrap="square" lIns="0" tIns="0" rIns="0" bIns="0" rtlCol="0" anchor="ctr"/>
          <a:lstStyle/>
          <a:p>
            <a:pPr marL="0" indent="0" algn="r">
              <a:buNone/>
            </a:pPr>
            <a:r>
              <a:rPr lang="en-US" sz="1500" dirty="0">
                <a:solidFill>
                  <a:srgbClr val="667085"/>
                </a:solidFill>
                <a:latin typeface="Arial" pitchFamily="34" charset="0"/>
                <a:ea typeface="Arial" pitchFamily="34" charset="-122"/>
                <a:cs typeface="Arial" pitchFamily="34" charset="-120"/>
              </a:rPr>
              <a:t>אפליקציה לניתוח רעידות אדמה וחיזוי רמת סיכון</a:t>
            </a:r>
            <a:endParaRPr lang="en-US" sz="1500" dirty="0"/>
          </a:p>
        </p:txBody>
      </p:sp>
      <p:sp>
        <p:nvSpPr>
          <p:cNvPr id="4" name="Text 2"/>
          <p:cNvSpPr/>
          <p:nvPr/>
        </p:nvSpPr>
        <p:spPr>
          <a:xfrm>
            <a:off x="6035040" y="1481328"/>
            <a:ext cx="5486400" cy="960120"/>
          </a:xfrm>
          <a:prstGeom prst="rect">
            <a:avLst/>
          </a:prstGeom>
          <a:noFill/>
          <a:ln/>
        </p:spPr>
        <p:txBody>
          <a:bodyPr wrap="square" lIns="508" tIns="508" rIns="508" bIns="508" rtlCol="0" anchor="t">
            <a:normAutofit/>
          </a:bodyPr>
          <a:lstStyle/>
          <a:p>
            <a:pPr marL="0" indent="0" algn="ctr">
              <a:buNone/>
            </a:pPr>
            <a:endParaRPr lang="he-IL" sz="2000" b="1" dirty="0">
              <a:solidFill>
                <a:srgbClr val="15213A"/>
              </a:solidFill>
              <a:latin typeface="Arial" pitchFamily="34" charset="0"/>
              <a:ea typeface="Arial" pitchFamily="34" charset="-122"/>
              <a:cs typeface="Arial" pitchFamily="34" charset="-120"/>
            </a:endParaRPr>
          </a:p>
        </p:txBody>
      </p:sp>
      <p:sp>
        <p:nvSpPr>
          <p:cNvPr id="5" name="Text 3"/>
          <p:cNvSpPr/>
          <p:nvPr/>
        </p:nvSpPr>
        <p:spPr>
          <a:xfrm>
            <a:off x="6035040" y="2514600"/>
            <a:ext cx="5486400" cy="320040"/>
          </a:xfrm>
          <a:prstGeom prst="rect">
            <a:avLst/>
          </a:prstGeom>
          <a:noFill/>
          <a:ln/>
        </p:spPr>
        <p:txBody>
          <a:bodyPr wrap="square" lIns="508" tIns="508" rIns="508" bIns="508" rtlCol="0" anchor="t">
            <a:normAutofit/>
          </a:bodyPr>
          <a:lstStyle/>
          <a:p>
            <a:pPr marL="0" indent="0" algn="r">
              <a:buNone/>
            </a:pPr>
            <a:r>
              <a:rPr lang="en-US" sz="1400" dirty="0">
                <a:solidFill>
                  <a:srgbClr val="0967C2"/>
                </a:solidFill>
                <a:latin typeface="Arial" pitchFamily="34" charset="0"/>
                <a:ea typeface="Arial" pitchFamily="34" charset="-122"/>
                <a:cs typeface="Arial" pitchFamily="34" charset="-120"/>
              </a:rPr>
              <a:t>Built with Streamlit · Logistic Regression · Live Demo</a:t>
            </a:r>
            <a:endParaRPr lang="en-US" sz="1400" dirty="0"/>
          </a:p>
        </p:txBody>
      </p:sp>
      <p:pic>
        <p:nvPicPr>
          <p:cNvPr id="6" name="Image 0" descr="/mnt/data/image(149).png"/>
          <p:cNvPicPr>
            <a:picLocks noChangeAspect="1"/>
          </p:cNvPicPr>
          <p:nvPr/>
        </p:nvPicPr>
        <p:blipFill>
          <a:blip r:embed="rId3"/>
          <a:stretch>
            <a:fillRect/>
          </a:stretch>
        </p:blipFill>
        <p:spPr>
          <a:xfrm>
            <a:off x="594360" y="2071535"/>
            <a:ext cx="5074920" cy="2440610"/>
          </a:xfrm>
          <a:prstGeom prst="rect">
            <a:avLst/>
          </a:prstGeom>
        </p:spPr>
      </p:pic>
      <p:sp>
        <p:nvSpPr>
          <p:cNvPr id="7" name="Text 4"/>
          <p:cNvSpPr/>
          <p:nvPr/>
        </p:nvSpPr>
        <p:spPr>
          <a:xfrm>
            <a:off x="6035040" y="5349240"/>
            <a:ext cx="5486400" cy="365760"/>
          </a:xfrm>
          <a:prstGeom prst="rect">
            <a:avLst/>
          </a:prstGeom>
          <a:noFill/>
          <a:ln/>
        </p:spPr>
        <p:txBody>
          <a:bodyPr wrap="square" lIns="508" tIns="508" rIns="508" bIns="508" rtlCol="0" anchor="t">
            <a:normAutofit/>
          </a:bodyPr>
          <a:lstStyle/>
          <a:p>
            <a:pPr marL="0" indent="0" algn="r">
              <a:buNone/>
            </a:pPr>
            <a:endParaRPr lang="en-US" sz="1600" dirty="0"/>
          </a:p>
        </p:txBody>
      </p:sp>
      <p:sp>
        <p:nvSpPr>
          <p:cNvPr id="8" name="Text 5"/>
          <p:cNvSpPr/>
          <p:nvPr/>
        </p:nvSpPr>
        <p:spPr>
          <a:xfrm>
            <a:off x="502920" y="6473952"/>
            <a:ext cx="7315200" cy="201168"/>
          </a:xfrm>
          <a:prstGeom prst="rect">
            <a:avLst/>
          </a:prstGeom>
          <a:noFill/>
          <a:ln/>
        </p:spPr>
        <p:txBody>
          <a:bodyPr wrap="square" lIns="0" tIns="0" rIns="0" bIns="0" rtlCol="0" anchor="ctr"/>
          <a:lstStyle/>
          <a:p>
            <a:pPr marL="0" indent="0" algn="l">
              <a:buNone/>
            </a:pPr>
            <a:r>
              <a:rPr lang="en-US" sz="850" dirty="0">
                <a:solidFill>
                  <a:srgbClr val="7A869A"/>
                </a:solidFill>
                <a:latin typeface="Arial" pitchFamily="34" charset="0"/>
                <a:ea typeface="Arial" pitchFamily="34" charset="-122"/>
                <a:cs typeface="Arial" pitchFamily="34" charset="-120"/>
              </a:rPr>
              <a:t>QuakeAnalyze · · אפליקציית Streamlit</a:t>
            </a:r>
            <a:endParaRPr lang="en-US" sz="850" dirty="0"/>
          </a:p>
        </p:txBody>
      </p:sp>
      <p:sp>
        <p:nvSpPr>
          <p:cNvPr id="9" name="Text 6"/>
          <p:cNvSpPr/>
          <p:nvPr/>
        </p:nvSpPr>
        <p:spPr>
          <a:xfrm>
            <a:off x="11384280" y="6473952"/>
            <a:ext cx="320040" cy="201168"/>
          </a:xfrm>
          <a:prstGeom prst="rect">
            <a:avLst/>
          </a:prstGeom>
          <a:noFill/>
          <a:ln/>
        </p:spPr>
        <p:txBody>
          <a:bodyPr wrap="square" lIns="0" tIns="0" rIns="0" bIns="0" rtlCol="0" anchor="ctr"/>
          <a:lstStyle/>
          <a:p>
            <a:pPr marL="0" indent="0" algn="r">
              <a:buNone/>
            </a:pPr>
            <a:r>
              <a:rPr lang="en-US" sz="850" dirty="0">
                <a:solidFill>
                  <a:srgbClr val="7A869A"/>
                </a:solidFill>
                <a:latin typeface="Arial" pitchFamily="34" charset="0"/>
                <a:ea typeface="Arial" pitchFamily="34" charset="-122"/>
                <a:cs typeface="Arial" pitchFamily="34" charset="-120"/>
              </a:rPr>
              <a:t>1</a:t>
            </a:r>
            <a:endParaRPr lang="en-US" sz="850" dirty="0"/>
          </a:p>
        </p:txBody>
      </p:sp>
      <p:sp>
        <p:nvSpPr>
          <p:cNvPr id="11" name="תיבת טקסט 10">
            <a:extLst>
              <a:ext uri="{FF2B5EF4-FFF2-40B4-BE49-F238E27FC236}">
                <a16:creationId xmlns:a16="http://schemas.microsoft.com/office/drawing/2014/main" id="{2152EA69-8CC8-6536-2176-C0B0FF9E7CEE}"/>
              </a:ext>
            </a:extLst>
          </p:cNvPr>
          <p:cNvSpPr txBox="1"/>
          <p:nvPr/>
        </p:nvSpPr>
        <p:spPr>
          <a:xfrm>
            <a:off x="5810639" y="1277695"/>
            <a:ext cx="6097554" cy="646331"/>
          </a:xfrm>
          <a:prstGeom prst="rect">
            <a:avLst/>
          </a:prstGeom>
          <a:noFill/>
        </p:spPr>
        <p:txBody>
          <a:bodyPr wrap="square">
            <a:spAutoFit/>
          </a:bodyPr>
          <a:lstStyle/>
          <a:p>
            <a:pPr algn="r"/>
            <a:r>
              <a:rPr lang="he-IL" dirty="0"/>
              <a:t>לקחת נתוני רעידות אדמה מורכבים ולהחזיר למשתמש סיווג ברור </a:t>
            </a:r>
          </a:p>
          <a:p>
            <a:pPr algn="r"/>
            <a:r>
              <a:rPr lang="he-IL" dirty="0"/>
              <a:t>נמוך, בינוני או גבוה.</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502920"/>
          </a:xfrm>
          <a:prstGeom prst="rect">
            <a:avLst/>
          </a:prstGeom>
          <a:noFill/>
          <a:ln/>
        </p:spPr>
        <p:txBody>
          <a:bodyPr wrap="square" lIns="0" tIns="0" rIns="0" bIns="0" rtlCol="0" anchor="ctr"/>
          <a:lstStyle/>
          <a:p>
            <a:pPr marL="0" indent="0" algn="r">
              <a:buNone/>
            </a:pPr>
            <a:r>
              <a:rPr lang="en-US" sz="2800" b="1" dirty="0" err="1">
                <a:solidFill>
                  <a:srgbClr val="15213A"/>
                </a:solidFill>
                <a:latin typeface="Arial" pitchFamily="34" charset="0"/>
                <a:ea typeface="Arial" pitchFamily="34" charset="-122"/>
                <a:cs typeface="Arial" pitchFamily="34" charset="-120"/>
              </a:rPr>
              <a:t>מה</a:t>
            </a:r>
            <a:r>
              <a:rPr lang="en-US" sz="2800" b="1" dirty="0">
                <a:solidFill>
                  <a:srgbClr val="15213A"/>
                </a:solidFill>
                <a:latin typeface="Arial" pitchFamily="34" charset="0"/>
                <a:ea typeface="Arial" pitchFamily="34" charset="-122"/>
                <a:cs typeface="Arial" pitchFamily="34" charset="-120"/>
              </a:rPr>
              <a:t> </a:t>
            </a:r>
            <a:r>
              <a:rPr lang="en-US" sz="2800" b="1" dirty="0" err="1">
                <a:solidFill>
                  <a:srgbClr val="15213A"/>
                </a:solidFill>
                <a:latin typeface="Arial" pitchFamily="34" charset="0"/>
                <a:ea typeface="Arial" pitchFamily="34" charset="-122"/>
                <a:cs typeface="Arial" pitchFamily="34" charset="-120"/>
              </a:rPr>
              <a:t>הבעיה</a:t>
            </a:r>
            <a:r>
              <a:rPr lang="en-US" sz="2800" b="1" dirty="0">
                <a:solidFill>
                  <a:srgbClr val="15213A"/>
                </a:solidFill>
                <a:latin typeface="Arial" pitchFamily="34" charset="0"/>
                <a:ea typeface="Arial" pitchFamily="34" charset="-122"/>
                <a:cs typeface="Arial" pitchFamily="34" charset="-120"/>
              </a:rPr>
              <a:t> </a:t>
            </a:r>
            <a:r>
              <a:rPr lang="en-US" sz="2800" b="1" dirty="0" err="1">
                <a:solidFill>
                  <a:srgbClr val="15213A"/>
                </a:solidFill>
                <a:latin typeface="Arial" pitchFamily="34" charset="0"/>
                <a:ea typeface="Arial" pitchFamily="34" charset="-122"/>
                <a:cs typeface="Arial" pitchFamily="34" charset="-120"/>
              </a:rPr>
              <a:t>ומה</a:t>
            </a:r>
            <a:r>
              <a:rPr lang="en-US" sz="2800" b="1" dirty="0">
                <a:solidFill>
                  <a:srgbClr val="15213A"/>
                </a:solidFill>
                <a:latin typeface="Arial" pitchFamily="34" charset="0"/>
                <a:ea typeface="Arial" pitchFamily="34" charset="-122"/>
                <a:cs typeface="Arial" pitchFamily="34" charset="-120"/>
              </a:rPr>
              <a:t> </a:t>
            </a:r>
            <a:r>
              <a:rPr lang="en-US" sz="2800" b="1" dirty="0" err="1">
                <a:solidFill>
                  <a:srgbClr val="15213A"/>
                </a:solidFill>
                <a:latin typeface="Arial" pitchFamily="34" charset="0"/>
                <a:ea typeface="Arial" pitchFamily="34" charset="-122"/>
                <a:cs typeface="Arial" pitchFamily="34" charset="-120"/>
              </a:rPr>
              <a:t>הפתרון</a:t>
            </a:r>
            <a:r>
              <a:rPr lang="en-US" sz="2800" b="1" dirty="0">
                <a:solidFill>
                  <a:srgbClr val="15213A"/>
                </a:solidFill>
                <a:latin typeface="Arial" pitchFamily="34" charset="0"/>
                <a:ea typeface="Arial" pitchFamily="34" charset="-122"/>
                <a:cs typeface="Arial" pitchFamily="34" charset="-120"/>
              </a:rPr>
              <a:t> </a:t>
            </a:r>
            <a:endParaRPr lang="en-US" sz="2800" dirty="0"/>
          </a:p>
        </p:txBody>
      </p:sp>
      <p:sp>
        <p:nvSpPr>
          <p:cNvPr id="3" name="Text 1"/>
          <p:cNvSpPr/>
          <p:nvPr/>
        </p:nvSpPr>
        <p:spPr>
          <a:xfrm>
            <a:off x="502920" y="896112"/>
            <a:ext cx="11155680" cy="329184"/>
          </a:xfrm>
          <a:prstGeom prst="rect">
            <a:avLst/>
          </a:prstGeom>
          <a:noFill/>
          <a:ln/>
        </p:spPr>
        <p:txBody>
          <a:bodyPr wrap="square" lIns="0" tIns="0" rIns="0" bIns="0" rtlCol="0" anchor="ctr"/>
          <a:lstStyle/>
          <a:p>
            <a:pPr marL="0" indent="0" algn="r">
              <a:buNone/>
            </a:pPr>
            <a:r>
              <a:rPr lang="en-US" sz="1500" dirty="0">
                <a:solidFill>
                  <a:srgbClr val="667085"/>
                </a:solidFill>
                <a:latin typeface="Arial" pitchFamily="34" charset="0"/>
                <a:ea typeface="Arial" pitchFamily="34" charset="-122"/>
                <a:cs typeface="Arial" pitchFamily="34" charset="-120"/>
              </a:rPr>
              <a:t>מהנתונים הגולמיים לתובנה ברורה למשתמש</a:t>
            </a:r>
            <a:endParaRPr lang="en-US" sz="1500" dirty="0"/>
          </a:p>
        </p:txBody>
      </p:sp>
      <p:sp>
        <p:nvSpPr>
          <p:cNvPr id="4" name="Text 2"/>
          <p:cNvSpPr/>
          <p:nvPr/>
        </p:nvSpPr>
        <p:spPr>
          <a:xfrm>
            <a:off x="6355080" y="1463040"/>
            <a:ext cx="5349240" cy="2834640"/>
          </a:xfrm>
          <a:prstGeom prst="rect">
            <a:avLst/>
          </a:prstGeom>
          <a:noFill/>
          <a:ln/>
        </p:spPr>
        <p:txBody>
          <a:bodyPr wrap="square" lIns="508" tIns="508" rIns="508" bIns="508" rtlCol="0" anchor="t">
            <a:normAutofit/>
          </a:bodyPr>
          <a:lstStyle/>
          <a:p>
            <a:pPr algn="r"/>
            <a:endParaRPr lang="he-IL" sz="1700" dirty="0"/>
          </a:p>
          <a:p>
            <a:pPr algn="r"/>
            <a:endParaRPr lang="he-IL" sz="1700" dirty="0"/>
          </a:p>
          <a:p>
            <a:pPr algn="r"/>
            <a:r>
              <a:rPr lang="he-IL" sz="1700" dirty="0"/>
              <a:t>הבעיה:</a:t>
            </a:r>
          </a:p>
          <a:p>
            <a:pPr algn="r"/>
            <a:r>
              <a:rPr lang="he-IL" sz="1700" dirty="0"/>
              <a:t>נתוני רעידות אדמה כוללים הרבה מספרים ומדדים,</a:t>
            </a:r>
          </a:p>
          <a:p>
            <a:pPr algn="r"/>
            <a:r>
              <a:rPr lang="he-IL" sz="1700" dirty="0"/>
              <a:t>ולכן לא תמיד ברור למשתמש מה רמת הסיכון בפועל.</a:t>
            </a:r>
          </a:p>
          <a:p>
            <a:pPr algn="r"/>
            <a:endParaRPr lang="he-IL" sz="1700" dirty="0"/>
          </a:p>
          <a:p>
            <a:pPr algn="r"/>
            <a:r>
              <a:rPr lang="he-IL" sz="1700" dirty="0"/>
              <a:t>הפתרון:</a:t>
            </a:r>
          </a:p>
          <a:p>
            <a:pPr algn="r"/>
            <a:r>
              <a:rPr lang="he-IL" sz="1700" dirty="0"/>
              <a:t>אפליקציה שמציגה ניתוח ראשוני של הנתונים</a:t>
            </a:r>
          </a:p>
          <a:p>
            <a:pPr algn="r"/>
            <a:r>
              <a:rPr lang="he-IL" sz="1700" dirty="0"/>
              <a:t>ומפעילה מודל למידת מכונה לחיזוי רמת הסיכון.</a:t>
            </a:r>
          </a:p>
          <a:p>
            <a:pPr algn="r"/>
            <a:endParaRPr lang="he-IL" sz="1700" dirty="0"/>
          </a:p>
        </p:txBody>
      </p:sp>
      <p:sp>
        <p:nvSpPr>
          <p:cNvPr id="5" name="Text 3"/>
          <p:cNvSpPr/>
          <p:nvPr/>
        </p:nvSpPr>
        <p:spPr>
          <a:xfrm>
            <a:off x="6355080" y="4709160"/>
            <a:ext cx="5349240" cy="914400"/>
          </a:xfrm>
          <a:prstGeom prst="rect">
            <a:avLst/>
          </a:prstGeom>
          <a:noFill/>
          <a:ln/>
        </p:spPr>
        <p:txBody>
          <a:bodyPr wrap="square" lIns="508" tIns="508" rIns="508" bIns="508" rtlCol="0" anchor="t">
            <a:normAutofit/>
          </a:bodyPr>
          <a:lstStyle/>
          <a:p>
            <a:pPr marL="0" indent="0" algn="r">
              <a:buNone/>
            </a:pPr>
            <a:endParaRPr lang="en-US" sz="1800" dirty="0"/>
          </a:p>
        </p:txBody>
      </p:sp>
      <p:pic>
        <p:nvPicPr>
          <p:cNvPr id="6" name="Image 0" descr="/mnt/data/Screenshot 2026-05-27 235030.png"/>
          <p:cNvPicPr>
            <a:picLocks noChangeAspect="1"/>
          </p:cNvPicPr>
          <p:nvPr/>
        </p:nvPicPr>
        <p:blipFill>
          <a:blip r:embed="rId3"/>
          <a:stretch>
            <a:fillRect/>
          </a:stretch>
        </p:blipFill>
        <p:spPr>
          <a:xfrm>
            <a:off x="548640" y="2199333"/>
            <a:ext cx="5440680" cy="2459334"/>
          </a:xfrm>
          <a:prstGeom prst="rect">
            <a:avLst/>
          </a:prstGeom>
        </p:spPr>
      </p:pic>
      <p:sp>
        <p:nvSpPr>
          <p:cNvPr id="7" name="Text 4"/>
          <p:cNvSpPr/>
          <p:nvPr/>
        </p:nvSpPr>
        <p:spPr>
          <a:xfrm>
            <a:off x="502920" y="6473952"/>
            <a:ext cx="7315200" cy="201168"/>
          </a:xfrm>
          <a:prstGeom prst="rect">
            <a:avLst/>
          </a:prstGeom>
          <a:noFill/>
          <a:ln/>
        </p:spPr>
        <p:txBody>
          <a:bodyPr wrap="square" lIns="0" tIns="0" rIns="0" bIns="0" rtlCol="0" anchor="ctr"/>
          <a:lstStyle/>
          <a:p>
            <a:pPr marL="0" indent="0" algn="l">
              <a:buNone/>
            </a:pPr>
            <a:r>
              <a:rPr lang="en-US" sz="850" dirty="0">
                <a:solidFill>
                  <a:srgbClr val="7A869A"/>
                </a:solidFill>
                <a:latin typeface="Arial" pitchFamily="34" charset="0"/>
                <a:ea typeface="Arial" pitchFamily="34" charset="-122"/>
                <a:cs typeface="Arial" pitchFamily="34" charset="-120"/>
              </a:rPr>
              <a:t>QuakeAnalyze · · אפליקציית Streamlit</a:t>
            </a:r>
            <a:endParaRPr lang="en-US" sz="850" dirty="0"/>
          </a:p>
        </p:txBody>
      </p:sp>
      <p:sp>
        <p:nvSpPr>
          <p:cNvPr id="8" name="Text 5"/>
          <p:cNvSpPr/>
          <p:nvPr/>
        </p:nvSpPr>
        <p:spPr>
          <a:xfrm>
            <a:off x="11384280" y="6473952"/>
            <a:ext cx="320040" cy="201168"/>
          </a:xfrm>
          <a:prstGeom prst="rect">
            <a:avLst/>
          </a:prstGeom>
          <a:noFill/>
          <a:ln/>
        </p:spPr>
        <p:txBody>
          <a:bodyPr wrap="square" lIns="0" tIns="0" rIns="0" bIns="0" rtlCol="0" anchor="ctr"/>
          <a:lstStyle/>
          <a:p>
            <a:pPr marL="0" indent="0" algn="r">
              <a:buNone/>
            </a:pPr>
            <a:r>
              <a:rPr lang="en-US" sz="850" dirty="0">
                <a:solidFill>
                  <a:srgbClr val="7A869A"/>
                </a:solidFill>
                <a:latin typeface="Arial" pitchFamily="34" charset="0"/>
                <a:ea typeface="Arial" pitchFamily="34" charset="-122"/>
                <a:cs typeface="Arial" pitchFamily="34" charset="-120"/>
              </a:rPr>
              <a:t>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502920"/>
          </a:xfrm>
          <a:prstGeom prst="rect">
            <a:avLst/>
          </a:prstGeom>
          <a:noFill/>
          <a:ln/>
        </p:spPr>
        <p:txBody>
          <a:bodyPr wrap="square" lIns="0" tIns="0" rIns="0" bIns="0" rtlCol="0" anchor="ctr"/>
          <a:lstStyle/>
          <a:p>
            <a:pPr marL="0" indent="0" algn="r">
              <a:buNone/>
            </a:pPr>
            <a:r>
              <a:rPr lang="en-US" sz="2800" b="1" dirty="0">
                <a:solidFill>
                  <a:srgbClr val="15213A"/>
                </a:solidFill>
                <a:latin typeface="Arial" pitchFamily="34" charset="0"/>
                <a:ea typeface="Arial" pitchFamily="34" charset="-122"/>
                <a:cs typeface="Arial" pitchFamily="34" charset="-120"/>
              </a:rPr>
              <a:t>הנתונים: מה נכנס למודל?</a:t>
            </a:r>
            <a:endParaRPr lang="en-US" sz="2800" dirty="0"/>
          </a:p>
        </p:txBody>
      </p:sp>
      <p:sp>
        <p:nvSpPr>
          <p:cNvPr id="3" name="Text 1"/>
          <p:cNvSpPr/>
          <p:nvPr/>
        </p:nvSpPr>
        <p:spPr>
          <a:xfrm>
            <a:off x="502920" y="896112"/>
            <a:ext cx="11155680" cy="329184"/>
          </a:xfrm>
          <a:prstGeom prst="rect">
            <a:avLst/>
          </a:prstGeom>
          <a:noFill/>
          <a:ln/>
        </p:spPr>
        <p:txBody>
          <a:bodyPr wrap="square" lIns="0" tIns="0" rIns="0" bIns="0" rtlCol="0" anchor="ctr"/>
          <a:lstStyle/>
          <a:p>
            <a:pPr marL="0" indent="0" algn="r">
              <a:buNone/>
            </a:pPr>
            <a:r>
              <a:rPr lang="en-US" sz="1500" dirty="0">
                <a:solidFill>
                  <a:srgbClr val="667085"/>
                </a:solidFill>
                <a:latin typeface="Arial" pitchFamily="34" charset="0"/>
                <a:ea typeface="Arial" pitchFamily="34" charset="-122"/>
                <a:cs typeface="Arial" pitchFamily="34" charset="-120"/>
              </a:rPr>
              <a:t>כל שורה מייצגת רעידת אדמה אחת</a:t>
            </a:r>
            <a:endParaRPr lang="en-US" sz="1500" dirty="0"/>
          </a:p>
        </p:txBody>
      </p:sp>
      <p:sp>
        <p:nvSpPr>
          <p:cNvPr id="4" name="Text 2"/>
          <p:cNvSpPr/>
          <p:nvPr/>
        </p:nvSpPr>
        <p:spPr>
          <a:xfrm>
            <a:off x="7315200" y="1417320"/>
            <a:ext cx="4297680" cy="320040"/>
          </a:xfrm>
          <a:prstGeom prst="rect">
            <a:avLst/>
          </a:prstGeom>
          <a:noFill/>
          <a:ln/>
        </p:spPr>
        <p:txBody>
          <a:bodyPr wrap="square" lIns="508" tIns="508" rIns="508" bIns="508" rtlCol="0" anchor="t">
            <a:normAutofit/>
          </a:bodyPr>
          <a:lstStyle/>
          <a:p>
            <a:pPr marL="0" indent="0" algn="r">
              <a:buNone/>
            </a:pPr>
            <a:r>
              <a:rPr lang="en-US" sz="1900" b="1" dirty="0">
                <a:solidFill>
                  <a:srgbClr val="15213A"/>
                </a:solidFill>
                <a:latin typeface="Arial" pitchFamily="34" charset="0"/>
                <a:ea typeface="Arial" pitchFamily="34" charset="-122"/>
                <a:cs typeface="Arial" pitchFamily="34" charset="-120"/>
              </a:rPr>
              <a:t>עמודות מרכזיות:</a:t>
            </a:r>
            <a:endParaRPr lang="en-US" sz="1900" dirty="0"/>
          </a:p>
        </p:txBody>
      </p:sp>
      <p:sp>
        <p:nvSpPr>
          <p:cNvPr id="5" name="Text 3"/>
          <p:cNvSpPr/>
          <p:nvPr/>
        </p:nvSpPr>
        <p:spPr>
          <a:xfrm>
            <a:off x="7315200" y="1874520"/>
            <a:ext cx="4297680" cy="2468880"/>
          </a:xfrm>
          <a:prstGeom prst="rect">
            <a:avLst/>
          </a:prstGeom>
          <a:noFill/>
          <a:ln/>
        </p:spPr>
        <p:txBody>
          <a:bodyPr wrap="square" lIns="508" tIns="508" rIns="508" bIns="508" rtlCol="0" anchor="t">
            <a:normAutofit/>
          </a:bodyPr>
          <a:lstStyle/>
          <a:p>
            <a:pPr marL="0" indent="0" algn="r">
              <a:buNone/>
            </a:pPr>
            <a:r>
              <a:rPr lang="en-US" sz="1700" dirty="0">
                <a:solidFill>
                  <a:srgbClr val="15213A"/>
                </a:solidFill>
                <a:latin typeface="Arial" pitchFamily="34" charset="0"/>
                <a:ea typeface="Arial" pitchFamily="34" charset="-122"/>
                <a:cs typeface="Arial" pitchFamily="34" charset="-120"/>
              </a:rPr>
              <a:t>magnitude — עוצמת הרעידה</a:t>
            </a:r>
            <a:endParaRPr lang="en-US" sz="1700" dirty="0"/>
          </a:p>
          <a:p>
            <a:pPr marL="0" indent="0" algn="r">
              <a:buNone/>
            </a:pPr>
            <a:r>
              <a:rPr lang="en-US" sz="1700" dirty="0">
                <a:solidFill>
                  <a:srgbClr val="15213A"/>
                </a:solidFill>
                <a:latin typeface="Arial" pitchFamily="34" charset="0"/>
                <a:ea typeface="Arial" pitchFamily="34" charset="-122"/>
                <a:cs typeface="Arial" pitchFamily="34" charset="-120"/>
              </a:rPr>
              <a:t>depth — עומק מוקד הרעידה</a:t>
            </a:r>
            <a:endParaRPr lang="en-US" sz="1700" dirty="0"/>
          </a:p>
          <a:p>
            <a:pPr marL="0" indent="0" algn="r">
              <a:buNone/>
            </a:pPr>
            <a:r>
              <a:rPr lang="en-US" sz="1700" dirty="0">
                <a:solidFill>
                  <a:srgbClr val="15213A"/>
                </a:solidFill>
                <a:latin typeface="Arial" pitchFamily="34" charset="0"/>
                <a:ea typeface="Arial" pitchFamily="34" charset="-122"/>
                <a:cs typeface="Arial" pitchFamily="34" charset="-120"/>
              </a:rPr>
              <a:t>cdi — מדד לפי דיווחי אנשים</a:t>
            </a:r>
            <a:endParaRPr lang="en-US" sz="1700" dirty="0"/>
          </a:p>
          <a:p>
            <a:pPr marL="0" indent="0" algn="r">
              <a:buNone/>
            </a:pPr>
            <a:r>
              <a:rPr lang="en-US" sz="1700" dirty="0">
                <a:solidFill>
                  <a:srgbClr val="15213A"/>
                </a:solidFill>
                <a:latin typeface="Arial" pitchFamily="34" charset="0"/>
                <a:ea typeface="Arial" pitchFamily="34" charset="-122"/>
                <a:cs typeface="Arial" pitchFamily="34" charset="-120"/>
              </a:rPr>
              <a:t>mmi — </a:t>
            </a:r>
            <a:r>
              <a:rPr lang="en-US" sz="1700" dirty="0" err="1">
                <a:solidFill>
                  <a:srgbClr val="15213A"/>
                </a:solidFill>
                <a:latin typeface="Arial" pitchFamily="34" charset="0"/>
                <a:ea typeface="Arial" pitchFamily="34" charset="-122"/>
                <a:cs typeface="Arial" pitchFamily="34" charset="-120"/>
              </a:rPr>
              <a:t>עוצמת</a:t>
            </a:r>
            <a:r>
              <a:rPr lang="en-US" sz="1700" dirty="0">
                <a:solidFill>
                  <a:srgbClr val="15213A"/>
                </a:solidFill>
                <a:latin typeface="Arial" pitchFamily="34" charset="0"/>
                <a:ea typeface="Arial" pitchFamily="34" charset="-122"/>
                <a:cs typeface="Arial" pitchFamily="34" charset="-120"/>
              </a:rPr>
              <a:t> ההשפעה/התחושה</a:t>
            </a:r>
            <a:endParaRPr lang="en-US" sz="1700" dirty="0"/>
          </a:p>
          <a:p>
            <a:pPr marL="0" indent="0" algn="r">
              <a:buNone/>
            </a:pPr>
            <a:r>
              <a:rPr lang="en-US" sz="1700" dirty="0">
                <a:solidFill>
                  <a:srgbClr val="15213A"/>
                </a:solidFill>
                <a:latin typeface="Arial" pitchFamily="34" charset="0"/>
                <a:ea typeface="Arial" pitchFamily="34" charset="-122"/>
                <a:cs typeface="Arial" pitchFamily="34" charset="-120"/>
              </a:rPr>
              <a:t>sig — מדד משמעות האירוע</a:t>
            </a:r>
            <a:endParaRPr lang="en-US" sz="1700" dirty="0"/>
          </a:p>
          <a:p>
            <a:pPr marL="0" indent="0" algn="r">
              <a:buNone/>
            </a:pPr>
            <a:r>
              <a:rPr lang="en-US" sz="1700" dirty="0">
                <a:solidFill>
                  <a:srgbClr val="15213A"/>
                </a:solidFill>
                <a:latin typeface="Arial" pitchFamily="34" charset="0"/>
                <a:ea typeface="Arial" pitchFamily="34" charset="-122"/>
                <a:cs typeface="Arial" pitchFamily="34" charset="-120"/>
              </a:rPr>
              <a:t>alert — רמת התרעה מקורית</a:t>
            </a:r>
            <a:endParaRPr lang="en-US" sz="1700" dirty="0"/>
          </a:p>
        </p:txBody>
      </p:sp>
      <p:sp>
        <p:nvSpPr>
          <p:cNvPr id="6" name="Text 4"/>
          <p:cNvSpPr/>
          <p:nvPr/>
        </p:nvSpPr>
        <p:spPr>
          <a:xfrm>
            <a:off x="7315200" y="4819262"/>
            <a:ext cx="4297680" cy="777240"/>
          </a:xfrm>
          <a:prstGeom prst="rect">
            <a:avLst/>
          </a:prstGeom>
          <a:noFill/>
          <a:ln/>
        </p:spPr>
        <p:txBody>
          <a:bodyPr wrap="square" lIns="508" tIns="508" rIns="508" bIns="508" rtlCol="0" anchor="t">
            <a:normAutofit/>
          </a:bodyPr>
          <a:lstStyle/>
          <a:p>
            <a:pPr marL="0" indent="0" algn="r">
              <a:buNone/>
            </a:pPr>
            <a:endParaRPr lang="en-US" sz="1700" dirty="0"/>
          </a:p>
        </p:txBody>
      </p:sp>
      <p:pic>
        <p:nvPicPr>
          <p:cNvPr id="7" name="Image 0" descr="/mnt/data/Screenshot 2026-05-27 235030.png"/>
          <p:cNvPicPr>
            <a:picLocks noChangeAspect="1"/>
          </p:cNvPicPr>
          <p:nvPr/>
        </p:nvPicPr>
        <p:blipFill>
          <a:blip r:embed="rId3"/>
          <a:stretch>
            <a:fillRect/>
          </a:stretch>
        </p:blipFill>
        <p:spPr>
          <a:xfrm>
            <a:off x="457200" y="2050913"/>
            <a:ext cx="6400800" cy="2893335"/>
          </a:xfrm>
          <a:prstGeom prst="rect">
            <a:avLst/>
          </a:prstGeom>
        </p:spPr>
      </p:pic>
      <p:sp>
        <p:nvSpPr>
          <p:cNvPr id="8" name="Text 5"/>
          <p:cNvSpPr/>
          <p:nvPr/>
        </p:nvSpPr>
        <p:spPr>
          <a:xfrm>
            <a:off x="502920" y="6473952"/>
            <a:ext cx="7315200" cy="201168"/>
          </a:xfrm>
          <a:prstGeom prst="rect">
            <a:avLst/>
          </a:prstGeom>
          <a:noFill/>
          <a:ln/>
        </p:spPr>
        <p:txBody>
          <a:bodyPr wrap="square" lIns="0" tIns="0" rIns="0" bIns="0" rtlCol="0" anchor="ctr"/>
          <a:lstStyle/>
          <a:p>
            <a:pPr marL="0" indent="0" algn="l">
              <a:buNone/>
            </a:pPr>
            <a:r>
              <a:rPr lang="en-US" sz="850" dirty="0">
                <a:solidFill>
                  <a:srgbClr val="7A869A"/>
                </a:solidFill>
                <a:latin typeface="Arial" pitchFamily="34" charset="0"/>
                <a:ea typeface="Arial" pitchFamily="34" charset="-122"/>
                <a:cs typeface="Arial" pitchFamily="34" charset="-120"/>
              </a:rPr>
              <a:t>QuakeAnalyze · M3 · אפליקציית Streamlit</a:t>
            </a:r>
            <a:endParaRPr lang="en-US" sz="850" dirty="0"/>
          </a:p>
        </p:txBody>
      </p:sp>
      <p:sp>
        <p:nvSpPr>
          <p:cNvPr id="9" name="Text 6"/>
          <p:cNvSpPr/>
          <p:nvPr/>
        </p:nvSpPr>
        <p:spPr>
          <a:xfrm>
            <a:off x="11384280" y="6473952"/>
            <a:ext cx="320040" cy="201168"/>
          </a:xfrm>
          <a:prstGeom prst="rect">
            <a:avLst/>
          </a:prstGeom>
          <a:noFill/>
          <a:ln/>
        </p:spPr>
        <p:txBody>
          <a:bodyPr wrap="square" lIns="0" tIns="0" rIns="0" bIns="0" rtlCol="0" anchor="ctr"/>
          <a:lstStyle/>
          <a:p>
            <a:pPr marL="0" indent="0" algn="r">
              <a:buNone/>
            </a:pPr>
            <a:r>
              <a:rPr lang="en-US" sz="850" dirty="0">
                <a:solidFill>
                  <a:srgbClr val="7A869A"/>
                </a:solidFill>
                <a:latin typeface="Arial" pitchFamily="34" charset="0"/>
                <a:ea typeface="Arial" pitchFamily="34" charset="-122"/>
                <a:cs typeface="Arial" pitchFamily="34" charset="-120"/>
              </a:rPr>
              <a:t>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502920"/>
          </a:xfrm>
          <a:prstGeom prst="rect">
            <a:avLst/>
          </a:prstGeom>
          <a:noFill/>
          <a:ln/>
        </p:spPr>
        <p:txBody>
          <a:bodyPr wrap="square" lIns="0" tIns="0" rIns="0" bIns="0" rtlCol="0" anchor="ctr"/>
          <a:lstStyle/>
          <a:p>
            <a:pPr marL="0" indent="0" algn="r">
              <a:buNone/>
            </a:pPr>
            <a:r>
              <a:rPr lang="en-US" sz="2800" b="1" dirty="0">
                <a:solidFill>
                  <a:srgbClr val="15213A"/>
                </a:solidFill>
                <a:latin typeface="Arial" pitchFamily="34" charset="0"/>
                <a:ea typeface="Arial" pitchFamily="34" charset="-122"/>
                <a:cs typeface="Arial" pitchFamily="34" charset="-120"/>
              </a:rPr>
              <a:t>EDA Dashboard: להבין את הנתונים</a:t>
            </a:r>
            <a:endParaRPr lang="en-US" sz="2800" dirty="0"/>
          </a:p>
        </p:txBody>
      </p:sp>
      <p:sp>
        <p:nvSpPr>
          <p:cNvPr id="3" name="Text 1"/>
          <p:cNvSpPr/>
          <p:nvPr/>
        </p:nvSpPr>
        <p:spPr>
          <a:xfrm>
            <a:off x="502920" y="896112"/>
            <a:ext cx="11155680" cy="329184"/>
          </a:xfrm>
          <a:prstGeom prst="rect">
            <a:avLst/>
          </a:prstGeom>
          <a:noFill/>
          <a:ln/>
        </p:spPr>
        <p:txBody>
          <a:bodyPr wrap="square" lIns="0" tIns="0" rIns="0" bIns="0" rtlCol="0" anchor="ctr"/>
          <a:lstStyle/>
          <a:p>
            <a:pPr marL="0" indent="0" algn="r">
              <a:buNone/>
            </a:pPr>
            <a:r>
              <a:rPr lang="en-US" sz="1500" dirty="0">
                <a:solidFill>
                  <a:srgbClr val="667085"/>
                </a:solidFill>
                <a:latin typeface="Arial" pitchFamily="34" charset="0"/>
                <a:ea typeface="Arial" pitchFamily="34" charset="-122"/>
                <a:cs typeface="Arial" pitchFamily="34" charset="-120"/>
              </a:rPr>
              <a:t>לפני המודל בודקים התפלגות, קשרים ואיזון מחלקות</a:t>
            </a:r>
            <a:endParaRPr lang="en-US" sz="1500" dirty="0"/>
          </a:p>
        </p:txBody>
      </p:sp>
      <p:pic>
        <p:nvPicPr>
          <p:cNvPr id="4" name="Image 0" descr="/mnt/data/Screenshot 2026-05-27 235000.png"/>
          <p:cNvPicPr>
            <a:picLocks noChangeAspect="1"/>
          </p:cNvPicPr>
          <p:nvPr/>
        </p:nvPicPr>
        <p:blipFill>
          <a:blip r:embed="rId3"/>
          <a:stretch>
            <a:fillRect/>
          </a:stretch>
        </p:blipFill>
        <p:spPr>
          <a:xfrm>
            <a:off x="502920" y="2444235"/>
            <a:ext cx="5440680" cy="2289570"/>
          </a:xfrm>
          <a:prstGeom prst="rect">
            <a:avLst/>
          </a:prstGeom>
        </p:spPr>
      </p:pic>
      <p:pic>
        <p:nvPicPr>
          <p:cNvPr id="5" name="Image 1" descr="/mnt/data/Screenshot 2026-05-27 235010.png"/>
          <p:cNvPicPr>
            <a:picLocks noChangeAspect="1"/>
          </p:cNvPicPr>
          <p:nvPr/>
        </p:nvPicPr>
        <p:blipFill>
          <a:blip r:embed="rId4"/>
          <a:stretch>
            <a:fillRect/>
          </a:stretch>
        </p:blipFill>
        <p:spPr>
          <a:xfrm>
            <a:off x="6309360" y="2625370"/>
            <a:ext cx="5349240" cy="1927300"/>
          </a:xfrm>
          <a:prstGeom prst="rect">
            <a:avLst/>
          </a:prstGeom>
        </p:spPr>
      </p:pic>
      <p:sp>
        <p:nvSpPr>
          <p:cNvPr id="6" name="Text 2"/>
          <p:cNvSpPr/>
          <p:nvPr/>
        </p:nvSpPr>
        <p:spPr>
          <a:xfrm>
            <a:off x="502920" y="5879592"/>
            <a:ext cx="1828800" cy="274320"/>
          </a:xfrm>
          <a:prstGeom prst="rect">
            <a:avLst/>
          </a:prstGeom>
          <a:noFill/>
          <a:ln/>
        </p:spPr>
        <p:txBody>
          <a:bodyPr wrap="square" lIns="508" tIns="508" rIns="508" bIns="508" rtlCol="0" anchor="t">
            <a:normAutofit/>
          </a:bodyPr>
          <a:lstStyle/>
          <a:p>
            <a:pPr marL="0" indent="0" algn="r">
              <a:buNone/>
            </a:pPr>
            <a:r>
              <a:rPr lang="en-US" sz="1400" b="1" dirty="0">
                <a:solidFill>
                  <a:srgbClr val="F24B55"/>
                </a:solidFill>
                <a:latin typeface="Arial" pitchFamily="34" charset="0"/>
                <a:ea typeface="Arial" pitchFamily="34" charset="-122"/>
                <a:cs typeface="Arial" pitchFamily="34" charset="-120"/>
              </a:rPr>
              <a:t>מה רואים?</a:t>
            </a:r>
            <a:endParaRPr lang="en-US" sz="1400" dirty="0"/>
          </a:p>
        </p:txBody>
      </p:sp>
      <p:sp>
        <p:nvSpPr>
          <p:cNvPr id="7" name="Text 3"/>
          <p:cNvSpPr/>
          <p:nvPr/>
        </p:nvSpPr>
        <p:spPr>
          <a:xfrm>
            <a:off x="5943600" y="5243804"/>
            <a:ext cx="5714999" cy="1431316"/>
          </a:xfrm>
          <a:prstGeom prst="rect">
            <a:avLst/>
          </a:prstGeom>
          <a:noFill/>
          <a:ln/>
        </p:spPr>
        <p:txBody>
          <a:bodyPr wrap="square" lIns="508" tIns="508" rIns="508" bIns="508" rtlCol="0" anchor="t">
            <a:noAutofit/>
          </a:bodyPr>
          <a:lstStyle/>
          <a:p>
            <a:pPr algn="l" rtl="1"/>
            <a:r>
              <a:rPr lang="he-IL" sz="1600" dirty="0"/>
              <a:t>בדף הזה אנחנו מציגים ניתוח ראשוני של הנתונים.</a:t>
            </a:r>
          </a:p>
          <a:p>
            <a:pPr algn="l" rtl="1"/>
            <a:r>
              <a:rPr lang="he-IL" sz="1600" dirty="0"/>
              <a:t>אפשר לראות את מספר הרשומות, ממוצע העוצמה,</a:t>
            </a:r>
          </a:p>
          <a:p>
            <a:pPr algn="l" rtl="1"/>
            <a:r>
              <a:rPr lang="he-IL" sz="1600" dirty="0"/>
              <a:t>התפלגות ה־</a:t>
            </a:r>
            <a:r>
              <a:rPr lang="en-US" sz="1600" dirty="0"/>
              <a:t>magnitude </a:t>
            </a:r>
            <a:r>
              <a:rPr lang="he-IL" sz="1600" dirty="0"/>
              <a:t>לפי רמות </a:t>
            </a:r>
            <a:r>
              <a:rPr lang="en-US" sz="1600" dirty="0"/>
              <a:t>alert,</a:t>
            </a:r>
          </a:p>
          <a:p>
            <a:pPr algn="l" rtl="1"/>
            <a:r>
              <a:rPr lang="he-IL" sz="1600" dirty="0"/>
              <a:t>ואת הקשר בין עומק הרעידה לבין העוצמה שלה.</a:t>
            </a:r>
          </a:p>
          <a:p>
            <a:pPr algn="l" rtl="1"/>
            <a:r>
              <a:rPr lang="he-IL" sz="1600" dirty="0"/>
              <a:t>המטרה היא להבין את הנתונים לפני שמפעילים את המודל.</a:t>
            </a:r>
            <a:endParaRPr lang="en-US" sz="1600" dirty="0"/>
          </a:p>
        </p:txBody>
      </p:sp>
      <p:sp>
        <p:nvSpPr>
          <p:cNvPr id="8" name="Text 4"/>
          <p:cNvSpPr/>
          <p:nvPr/>
        </p:nvSpPr>
        <p:spPr>
          <a:xfrm>
            <a:off x="502920" y="6473952"/>
            <a:ext cx="7315200" cy="201168"/>
          </a:xfrm>
          <a:prstGeom prst="rect">
            <a:avLst/>
          </a:prstGeom>
          <a:noFill/>
          <a:ln/>
        </p:spPr>
        <p:txBody>
          <a:bodyPr wrap="square" lIns="0" tIns="0" rIns="0" bIns="0" rtlCol="0" anchor="ctr"/>
          <a:lstStyle/>
          <a:p>
            <a:pPr marL="0" indent="0" algn="l">
              <a:buNone/>
            </a:pPr>
            <a:r>
              <a:rPr lang="en-US" sz="850" dirty="0">
                <a:solidFill>
                  <a:srgbClr val="7A869A"/>
                </a:solidFill>
                <a:latin typeface="Arial" pitchFamily="34" charset="0"/>
                <a:ea typeface="Arial" pitchFamily="34" charset="-122"/>
                <a:cs typeface="Arial" pitchFamily="34" charset="-120"/>
              </a:rPr>
              <a:t>QuakeAnalyze · · אפליקציית Streamlit</a:t>
            </a:r>
            <a:endParaRPr lang="en-US" sz="850" dirty="0"/>
          </a:p>
        </p:txBody>
      </p:sp>
      <p:sp>
        <p:nvSpPr>
          <p:cNvPr id="9" name="Text 5"/>
          <p:cNvSpPr/>
          <p:nvPr/>
        </p:nvSpPr>
        <p:spPr>
          <a:xfrm>
            <a:off x="11384280" y="6473952"/>
            <a:ext cx="320040" cy="201168"/>
          </a:xfrm>
          <a:prstGeom prst="rect">
            <a:avLst/>
          </a:prstGeom>
          <a:noFill/>
          <a:ln/>
        </p:spPr>
        <p:txBody>
          <a:bodyPr wrap="square" lIns="0" tIns="0" rIns="0" bIns="0" rtlCol="0" anchor="ctr"/>
          <a:lstStyle/>
          <a:p>
            <a:pPr marL="0" indent="0" algn="r">
              <a:buNone/>
            </a:pPr>
            <a:r>
              <a:rPr lang="en-US" sz="850" dirty="0">
                <a:solidFill>
                  <a:srgbClr val="7A869A"/>
                </a:solidFill>
                <a:latin typeface="Arial" pitchFamily="34" charset="0"/>
                <a:ea typeface="Arial" pitchFamily="34" charset="-122"/>
                <a:cs typeface="Arial" pitchFamily="34" charset="-120"/>
              </a:rPr>
              <a:t>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502920"/>
          </a:xfrm>
          <a:prstGeom prst="rect">
            <a:avLst/>
          </a:prstGeom>
          <a:noFill/>
          <a:ln/>
        </p:spPr>
        <p:txBody>
          <a:bodyPr wrap="square" lIns="0" tIns="0" rIns="0" bIns="0" rtlCol="0" anchor="ctr"/>
          <a:lstStyle/>
          <a:p>
            <a:pPr marL="0" indent="0" algn="r">
              <a:buNone/>
            </a:pPr>
            <a:r>
              <a:rPr lang="en-US" sz="2800" b="1" dirty="0">
                <a:solidFill>
                  <a:srgbClr val="15213A"/>
                </a:solidFill>
                <a:latin typeface="Arial" pitchFamily="34" charset="0"/>
                <a:ea typeface="Arial" pitchFamily="34" charset="-122"/>
                <a:cs typeface="Arial" pitchFamily="34" charset="-120"/>
              </a:rPr>
              <a:t>מודל Logistic Regression</a:t>
            </a:r>
            <a:endParaRPr lang="en-US" sz="2800" dirty="0"/>
          </a:p>
        </p:txBody>
      </p:sp>
      <p:sp>
        <p:nvSpPr>
          <p:cNvPr id="3" name="Text 1"/>
          <p:cNvSpPr/>
          <p:nvPr/>
        </p:nvSpPr>
        <p:spPr>
          <a:xfrm>
            <a:off x="502920" y="896112"/>
            <a:ext cx="11155680" cy="329184"/>
          </a:xfrm>
          <a:prstGeom prst="rect">
            <a:avLst/>
          </a:prstGeom>
          <a:noFill/>
          <a:ln/>
        </p:spPr>
        <p:txBody>
          <a:bodyPr wrap="square" lIns="0" tIns="0" rIns="0" bIns="0" rtlCol="0" anchor="ctr"/>
          <a:lstStyle/>
          <a:p>
            <a:pPr marL="0" indent="0" algn="r">
              <a:buNone/>
            </a:pPr>
            <a:r>
              <a:rPr lang="en-US" sz="1500" dirty="0">
                <a:solidFill>
                  <a:srgbClr val="667085"/>
                </a:solidFill>
                <a:latin typeface="Arial" pitchFamily="34" charset="0"/>
                <a:ea typeface="Arial" pitchFamily="34" charset="-122"/>
                <a:cs typeface="Arial" pitchFamily="34" charset="-120"/>
              </a:rPr>
              <a:t>מודל בסיסי וברור לסיווג רב־מחלקתי</a:t>
            </a:r>
            <a:endParaRPr lang="en-US" sz="1500" dirty="0"/>
          </a:p>
        </p:txBody>
      </p:sp>
      <p:pic>
        <p:nvPicPr>
          <p:cNvPr id="4" name="Image 0" descr="/mnt/data/Screenshot 2026-05-27 235116.png"/>
          <p:cNvPicPr>
            <a:picLocks noChangeAspect="1"/>
          </p:cNvPicPr>
          <p:nvPr/>
        </p:nvPicPr>
        <p:blipFill>
          <a:blip r:embed="rId3"/>
          <a:stretch>
            <a:fillRect/>
          </a:stretch>
        </p:blipFill>
        <p:spPr>
          <a:xfrm>
            <a:off x="594360" y="2201704"/>
            <a:ext cx="6446520" cy="2820353"/>
          </a:xfrm>
          <a:prstGeom prst="rect">
            <a:avLst/>
          </a:prstGeom>
        </p:spPr>
      </p:pic>
      <p:sp>
        <p:nvSpPr>
          <p:cNvPr id="5" name="Text 2"/>
          <p:cNvSpPr/>
          <p:nvPr/>
        </p:nvSpPr>
        <p:spPr>
          <a:xfrm>
            <a:off x="7360920" y="1417320"/>
            <a:ext cx="4343400" cy="320040"/>
          </a:xfrm>
          <a:prstGeom prst="rect">
            <a:avLst/>
          </a:prstGeom>
          <a:noFill/>
          <a:ln/>
        </p:spPr>
        <p:txBody>
          <a:bodyPr wrap="square" lIns="508" tIns="508" rIns="508" bIns="508" rtlCol="0" anchor="t">
            <a:normAutofit/>
          </a:bodyPr>
          <a:lstStyle/>
          <a:p>
            <a:pPr marL="0" indent="0" algn="r">
              <a:buNone/>
            </a:pPr>
            <a:r>
              <a:rPr lang="en-US" sz="1900" b="1" dirty="0">
                <a:solidFill>
                  <a:srgbClr val="15213A"/>
                </a:solidFill>
                <a:latin typeface="Arial" pitchFamily="34" charset="0"/>
                <a:ea typeface="Arial" pitchFamily="34" charset="-122"/>
                <a:cs typeface="Arial" pitchFamily="34" charset="-120"/>
              </a:rPr>
              <a:t>איך הוא משתלב?</a:t>
            </a:r>
            <a:endParaRPr lang="en-US" sz="1900" dirty="0"/>
          </a:p>
        </p:txBody>
      </p:sp>
      <p:sp>
        <p:nvSpPr>
          <p:cNvPr id="6" name="Text 3"/>
          <p:cNvSpPr/>
          <p:nvPr/>
        </p:nvSpPr>
        <p:spPr>
          <a:xfrm>
            <a:off x="7818120" y="1874520"/>
            <a:ext cx="3886200" cy="2651760"/>
          </a:xfrm>
          <a:prstGeom prst="rect">
            <a:avLst/>
          </a:prstGeom>
          <a:noFill/>
          <a:ln/>
        </p:spPr>
        <p:txBody>
          <a:bodyPr wrap="square" lIns="508" tIns="508" rIns="508" bIns="508" rtlCol="0" anchor="t">
            <a:normAutofit/>
          </a:bodyPr>
          <a:lstStyle/>
          <a:p>
            <a:pPr marL="0" indent="0" algn="l" rtl="1">
              <a:buNone/>
            </a:pPr>
            <a:endParaRPr lang="he-IL" sz="1700" dirty="0">
              <a:solidFill>
                <a:srgbClr val="15213A"/>
              </a:solidFill>
              <a:latin typeface="Arial" pitchFamily="34" charset="0"/>
              <a:ea typeface="Arial" pitchFamily="34" charset="-122"/>
              <a:cs typeface="Arial" pitchFamily="34" charset="-120"/>
            </a:endParaRPr>
          </a:p>
          <a:p>
            <a:pPr marL="0" indent="0" algn="l" rtl="1">
              <a:buNone/>
            </a:pPr>
            <a:r>
              <a:rPr lang="he-IL" sz="1700" dirty="0">
                <a:solidFill>
                  <a:srgbClr val="15213A"/>
                </a:solidFill>
                <a:latin typeface="Arial" pitchFamily="34" charset="0"/>
                <a:ea typeface="Arial" pitchFamily="34" charset="-122"/>
                <a:cs typeface="Arial" pitchFamily="34" charset="-120"/>
              </a:rPr>
              <a:t>1. האפליקציה קוראת את קובץ הנתונים</a:t>
            </a:r>
          </a:p>
          <a:p>
            <a:pPr marL="0" indent="0" algn="l" rtl="1">
              <a:buNone/>
            </a:pPr>
            <a:r>
              <a:rPr lang="he-IL" sz="1700" dirty="0">
                <a:solidFill>
                  <a:srgbClr val="15213A"/>
                </a:solidFill>
                <a:latin typeface="Arial" pitchFamily="34" charset="0"/>
                <a:ea typeface="Arial" pitchFamily="34" charset="-122"/>
                <a:cs typeface="Arial" pitchFamily="34" charset="-120"/>
              </a:rPr>
              <a:t>2. יוצרים רמת סיכון: </a:t>
            </a:r>
            <a:r>
              <a:rPr lang="en-US" sz="1700" dirty="0">
                <a:solidFill>
                  <a:srgbClr val="15213A"/>
                </a:solidFill>
                <a:latin typeface="Arial" pitchFamily="34" charset="0"/>
                <a:ea typeface="Arial" pitchFamily="34" charset="-122"/>
                <a:cs typeface="Arial" pitchFamily="34" charset="-120"/>
              </a:rPr>
              <a:t>low / medium / high</a:t>
            </a:r>
          </a:p>
          <a:p>
            <a:pPr marL="0" indent="0" algn="l" rtl="1">
              <a:buNone/>
            </a:pPr>
            <a:r>
              <a:rPr lang="en-US" sz="1700" dirty="0">
                <a:solidFill>
                  <a:srgbClr val="15213A"/>
                </a:solidFill>
                <a:latin typeface="Arial" pitchFamily="34" charset="0"/>
                <a:ea typeface="Arial" pitchFamily="34" charset="-122"/>
                <a:cs typeface="Arial" pitchFamily="34" charset="-120"/>
              </a:rPr>
              <a:t>3. </a:t>
            </a:r>
            <a:r>
              <a:rPr lang="he-IL" sz="1700" dirty="0">
                <a:solidFill>
                  <a:srgbClr val="15213A"/>
                </a:solidFill>
                <a:latin typeface="Arial" pitchFamily="34" charset="0"/>
                <a:ea typeface="Arial" pitchFamily="34" charset="-122"/>
                <a:cs typeface="Arial" pitchFamily="34" charset="-120"/>
              </a:rPr>
              <a:t>בוחרים את הנתונים שמשפיעים על החיזוי:</a:t>
            </a:r>
          </a:p>
          <a:p>
            <a:pPr marL="0" indent="0" algn="l" rtl="1">
              <a:buNone/>
            </a:pPr>
            <a:r>
              <a:rPr lang="he-IL" sz="1700" dirty="0">
                <a:solidFill>
                  <a:srgbClr val="15213A"/>
                </a:solidFill>
                <a:latin typeface="Arial" pitchFamily="34" charset="0"/>
                <a:ea typeface="Arial" pitchFamily="34" charset="-122"/>
                <a:cs typeface="Arial" pitchFamily="34" charset="-120"/>
              </a:rPr>
              <a:t>   </a:t>
            </a:r>
            <a:r>
              <a:rPr lang="en-US" sz="1700" dirty="0">
                <a:solidFill>
                  <a:srgbClr val="15213A"/>
                </a:solidFill>
                <a:latin typeface="Arial" pitchFamily="34" charset="0"/>
                <a:ea typeface="Arial" pitchFamily="34" charset="-122"/>
                <a:cs typeface="Arial" pitchFamily="34" charset="-120"/>
              </a:rPr>
              <a:t>magnitude, depth, cdi, mmi, sig</a:t>
            </a:r>
          </a:p>
          <a:p>
            <a:pPr marL="0" indent="0" algn="l" rtl="1">
              <a:buNone/>
            </a:pPr>
            <a:r>
              <a:rPr lang="en-US" sz="1700" dirty="0">
                <a:solidFill>
                  <a:srgbClr val="15213A"/>
                </a:solidFill>
                <a:latin typeface="Arial" pitchFamily="34" charset="0"/>
                <a:ea typeface="Arial" pitchFamily="34" charset="-122"/>
                <a:cs typeface="Arial" pitchFamily="34" charset="-120"/>
              </a:rPr>
              <a:t>4. </a:t>
            </a:r>
            <a:r>
              <a:rPr lang="he-IL" sz="1700" dirty="0">
                <a:solidFill>
                  <a:srgbClr val="15213A"/>
                </a:solidFill>
                <a:latin typeface="Arial" pitchFamily="34" charset="0"/>
                <a:ea typeface="Arial" pitchFamily="34" charset="-122"/>
                <a:cs typeface="Arial" pitchFamily="34" charset="-120"/>
              </a:rPr>
              <a:t>מחלקים את הנתונים לאימון ובדיקה</a:t>
            </a:r>
          </a:p>
          <a:p>
            <a:pPr marL="0" indent="0" algn="l" rtl="1">
              <a:buNone/>
            </a:pPr>
            <a:r>
              <a:rPr lang="he-IL" sz="1700" dirty="0">
                <a:solidFill>
                  <a:srgbClr val="15213A"/>
                </a:solidFill>
                <a:latin typeface="Arial" pitchFamily="34" charset="0"/>
                <a:ea typeface="Arial" pitchFamily="34" charset="-122"/>
                <a:cs typeface="Arial" pitchFamily="34" charset="-120"/>
              </a:rPr>
              <a:t>5. מאמנים את המודל ומציגים את התוצאה</a:t>
            </a:r>
          </a:p>
          <a:p>
            <a:pPr marL="0" indent="0" algn="l" rtl="1">
              <a:buNone/>
            </a:pPr>
            <a:endParaRPr lang="he-IL" sz="1700" dirty="0">
              <a:solidFill>
                <a:srgbClr val="15213A"/>
              </a:solidFill>
              <a:latin typeface="Arial" pitchFamily="34" charset="0"/>
              <a:ea typeface="Arial" pitchFamily="34" charset="-122"/>
              <a:cs typeface="Arial" pitchFamily="34" charset="-120"/>
            </a:endParaRPr>
          </a:p>
          <a:p>
            <a:pPr marL="0" indent="0" algn="l" rtl="1">
              <a:buNone/>
            </a:pPr>
            <a:r>
              <a:rPr lang="he-IL" sz="1700" dirty="0">
                <a:solidFill>
                  <a:srgbClr val="15213A"/>
                </a:solidFill>
                <a:latin typeface="Arial" pitchFamily="34" charset="0"/>
                <a:ea typeface="Arial" pitchFamily="34" charset="-122"/>
                <a:cs typeface="Arial" pitchFamily="34" charset="-120"/>
              </a:rPr>
              <a:t>דיוק המודל: </a:t>
            </a:r>
            <a:r>
              <a:rPr lang="en-US" sz="1700" dirty="0">
                <a:solidFill>
                  <a:srgbClr val="15213A"/>
                </a:solidFill>
                <a:latin typeface="Arial" pitchFamily="34" charset="0"/>
                <a:ea typeface="Arial" pitchFamily="34" charset="-122"/>
                <a:cs typeface="Arial" pitchFamily="34" charset="-120"/>
              </a:rPr>
              <a:t>Accuracy ≈ 72.22%</a:t>
            </a:r>
            <a:endParaRPr lang="en-US" sz="1700" dirty="0"/>
          </a:p>
        </p:txBody>
      </p:sp>
      <p:sp>
        <p:nvSpPr>
          <p:cNvPr id="7" name="Text 4"/>
          <p:cNvSpPr/>
          <p:nvPr/>
        </p:nvSpPr>
        <p:spPr>
          <a:xfrm>
            <a:off x="7360920" y="4892040"/>
            <a:ext cx="4343400" cy="411480"/>
          </a:xfrm>
          <a:prstGeom prst="rect">
            <a:avLst/>
          </a:prstGeom>
          <a:noFill/>
          <a:ln/>
        </p:spPr>
        <p:txBody>
          <a:bodyPr wrap="square" lIns="508" tIns="508" rIns="508" bIns="508" rtlCol="0" anchor="t">
            <a:normAutofit/>
          </a:bodyPr>
          <a:lstStyle/>
          <a:p>
            <a:pPr marL="0" indent="0" algn="r">
              <a:buNone/>
            </a:pPr>
            <a:endParaRPr lang="en-US" sz="1800" dirty="0"/>
          </a:p>
        </p:txBody>
      </p:sp>
      <p:sp>
        <p:nvSpPr>
          <p:cNvPr id="8" name="Text 5"/>
          <p:cNvSpPr/>
          <p:nvPr/>
        </p:nvSpPr>
        <p:spPr>
          <a:xfrm>
            <a:off x="502920" y="6473952"/>
            <a:ext cx="7315200" cy="201168"/>
          </a:xfrm>
          <a:prstGeom prst="rect">
            <a:avLst/>
          </a:prstGeom>
          <a:noFill/>
          <a:ln/>
        </p:spPr>
        <p:txBody>
          <a:bodyPr wrap="square" lIns="0" tIns="0" rIns="0" bIns="0" rtlCol="0" anchor="ctr"/>
          <a:lstStyle/>
          <a:p>
            <a:pPr marL="0" indent="0" algn="l">
              <a:buNone/>
            </a:pPr>
            <a:r>
              <a:rPr lang="en-US" sz="850" dirty="0">
                <a:solidFill>
                  <a:srgbClr val="7A869A"/>
                </a:solidFill>
                <a:latin typeface="Arial" pitchFamily="34" charset="0"/>
                <a:ea typeface="Arial" pitchFamily="34" charset="-122"/>
                <a:cs typeface="Arial" pitchFamily="34" charset="-120"/>
              </a:rPr>
              <a:t>QuakeAnalyze · · אפליקציית Streamlit</a:t>
            </a:r>
            <a:endParaRPr lang="en-US" sz="850" dirty="0"/>
          </a:p>
        </p:txBody>
      </p:sp>
      <p:sp>
        <p:nvSpPr>
          <p:cNvPr id="9" name="Text 6"/>
          <p:cNvSpPr/>
          <p:nvPr/>
        </p:nvSpPr>
        <p:spPr>
          <a:xfrm>
            <a:off x="11384280" y="6473952"/>
            <a:ext cx="320040" cy="201168"/>
          </a:xfrm>
          <a:prstGeom prst="rect">
            <a:avLst/>
          </a:prstGeom>
          <a:noFill/>
          <a:ln/>
        </p:spPr>
        <p:txBody>
          <a:bodyPr wrap="square" lIns="0" tIns="0" rIns="0" bIns="0" rtlCol="0" anchor="ctr"/>
          <a:lstStyle/>
          <a:p>
            <a:pPr marL="0" indent="0" algn="r">
              <a:buNone/>
            </a:pPr>
            <a:r>
              <a:rPr lang="en-US" sz="850" dirty="0">
                <a:solidFill>
                  <a:srgbClr val="7A869A"/>
                </a:solidFill>
                <a:latin typeface="Arial" pitchFamily="34" charset="0"/>
                <a:ea typeface="Arial" pitchFamily="34" charset="-122"/>
                <a:cs typeface="Arial" pitchFamily="34" charset="-120"/>
              </a:rPr>
              <a:t>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502920"/>
          </a:xfrm>
          <a:prstGeom prst="rect">
            <a:avLst/>
          </a:prstGeom>
          <a:noFill/>
          <a:ln/>
        </p:spPr>
        <p:txBody>
          <a:bodyPr wrap="square" lIns="0" tIns="0" rIns="0" bIns="0" rtlCol="0" anchor="ctr"/>
          <a:lstStyle/>
          <a:p>
            <a:pPr marL="0" indent="0" algn="r">
              <a:buNone/>
            </a:pPr>
            <a:r>
              <a:rPr lang="en-US" sz="2800" b="1" dirty="0">
                <a:solidFill>
                  <a:srgbClr val="15213A"/>
                </a:solidFill>
                <a:latin typeface="Arial" pitchFamily="34" charset="0"/>
                <a:ea typeface="Arial" pitchFamily="34" charset="-122"/>
                <a:cs typeface="Arial" pitchFamily="34" charset="-120"/>
              </a:rPr>
              <a:t>בדיקת ביצועי המודל</a:t>
            </a:r>
            <a:endParaRPr lang="en-US" sz="2800" dirty="0"/>
          </a:p>
        </p:txBody>
      </p:sp>
      <p:sp>
        <p:nvSpPr>
          <p:cNvPr id="3" name="Text 1"/>
          <p:cNvSpPr/>
          <p:nvPr/>
        </p:nvSpPr>
        <p:spPr>
          <a:xfrm>
            <a:off x="502920" y="896112"/>
            <a:ext cx="11155680" cy="329184"/>
          </a:xfrm>
          <a:prstGeom prst="rect">
            <a:avLst/>
          </a:prstGeom>
          <a:noFill/>
          <a:ln/>
        </p:spPr>
        <p:txBody>
          <a:bodyPr wrap="square" lIns="0" tIns="0" rIns="0" bIns="0" rtlCol="0" anchor="ctr"/>
          <a:lstStyle/>
          <a:p>
            <a:pPr marL="0" indent="0" algn="r">
              <a:buNone/>
            </a:pPr>
            <a:r>
              <a:rPr lang="en-US" sz="1500" dirty="0">
                <a:solidFill>
                  <a:srgbClr val="667085"/>
                </a:solidFill>
                <a:latin typeface="Arial" pitchFamily="34" charset="0"/>
                <a:ea typeface="Arial" pitchFamily="34" charset="-122"/>
                <a:cs typeface="Arial" pitchFamily="34" charset="-120"/>
              </a:rPr>
              <a:t>לא מספיק לחזות — צריך להבין איפה המודל מצליח ואיפה הוא מתבלבל</a:t>
            </a:r>
            <a:endParaRPr lang="en-US" sz="1500" dirty="0"/>
          </a:p>
        </p:txBody>
      </p:sp>
      <p:pic>
        <p:nvPicPr>
          <p:cNvPr id="4" name="Image 0" descr="/mnt/data/Screenshot 2026-05-27 235124.png"/>
          <p:cNvPicPr>
            <a:picLocks noChangeAspect="1"/>
          </p:cNvPicPr>
          <p:nvPr/>
        </p:nvPicPr>
        <p:blipFill>
          <a:blip r:embed="rId3"/>
          <a:srcRect l="16000" t="14000" r="46410" b="14000"/>
          <a:stretch/>
        </p:blipFill>
        <p:spPr>
          <a:xfrm>
            <a:off x="121921" y="-111760"/>
            <a:ext cx="5577840" cy="4526280"/>
          </a:xfrm>
          <a:prstGeom prst="rect">
            <a:avLst/>
          </a:prstGeom>
        </p:spPr>
      </p:pic>
      <p:pic>
        <p:nvPicPr>
          <p:cNvPr id="5" name="Image 1" descr="/mnt/data/Screenshot 2026-05-27 235144.png"/>
          <p:cNvPicPr>
            <a:picLocks noChangeAspect="1"/>
          </p:cNvPicPr>
          <p:nvPr/>
        </p:nvPicPr>
        <p:blipFill>
          <a:blip r:embed="rId4"/>
          <a:stretch>
            <a:fillRect/>
          </a:stretch>
        </p:blipFill>
        <p:spPr>
          <a:xfrm>
            <a:off x="6355080" y="1225296"/>
            <a:ext cx="5349240" cy="2448006"/>
          </a:xfrm>
          <a:prstGeom prst="rect">
            <a:avLst/>
          </a:prstGeom>
        </p:spPr>
      </p:pic>
      <p:sp>
        <p:nvSpPr>
          <p:cNvPr id="6" name="Text 2"/>
          <p:cNvSpPr/>
          <p:nvPr/>
        </p:nvSpPr>
        <p:spPr>
          <a:xfrm>
            <a:off x="685800" y="4594860"/>
            <a:ext cx="10972800" cy="1623060"/>
          </a:xfrm>
          <a:prstGeom prst="rect">
            <a:avLst/>
          </a:prstGeom>
          <a:noFill/>
          <a:ln/>
        </p:spPr>
        <p:txBody>
          <a:bodyPr wrap="square" lIns="508" tIns="508" rIns="508" bIns="508" rtlCol="0" anchor="t">
            <a:noAutofit/>
          </a:bodyPr>
          <a:lstStyle/>
          <a:p>
            <a:pPr marL="0" indent="0" algn="l" rtl="1">
              <a:buNone/>
            </a:pPr>
            <a:endParaRPr lang="he-IL" sz="1400" b="1" dirty="0">
              <a:solidFill>
                <a:srgbClr val="667085"/>
              </a:solidFill>
              <a:latin typeface="Arial" pitchFamily="34" charset="0"/>
              <a:ea typeface="Arial" pitchFamily="34" charset="-122"/>
              <a:cs typeface="Arial" pitchFamily="34" charset="-120"/>
            </a:endParaRPr>
          </a:p>
          <a:p>
            <a:pPr marL="0" indent="0" algn="l" rtl="1">
              <a:buNone/>
            </a:pPr>
            <a:r>
              <a:rPr lang="en-US" sz="1400" b="1" dirty="0">
                <a:solidFill>
                  <a:srgbClr val="667085"/>
                </a:solidFill>
                <a:latin typeface="Arial" pitchFamily="34" charset="0"/>
                <a:ea typeface="Arial" pitchFamily="34" charset="-122"/>
                <a:cs typeface="Arial" pitchFamily="34" charset="-120"/>
              </a:rPr>
              <a:t>Confusion Matrix:</a:t>
            </a:r>
          </a:p>
          <a:p>
            <a:pPr marL="0" indent="0" algn="l" rtl="1">
              <a:buNone/>
            </a:pPr>
            <a:r>
              <a:rPr lang="he-IL" sz="1400" b="1" dirty="0">
                <a:solidFill>
                  <a:srgbClr val="667085"/>
                </a:solidFill>
                <a:latin typeface="Arial" pitchFamily="34" charset="0"/>
                <a:ea typeface="Arial" pitchFamily="34" charset="-122"/>
                <a:cs typeface="Arial" pitchFamily="34" charset="-120"/>
              </a:rPr>
              <a:t>מציגה תחזיות נכונות וטעויות של המודל.</a:t>
            </a:r>
          </a:p>
          <a:p>
            <a:pPr marL="0" indent="0" algn="l" rtl="1">
              <a:buNone/>
            </a:pPr>
            <a:r>
              <a:rPr lang="he-IL" sz="1400" b="1" dirty="0">
                <a:solidFill>
                  <a:srgbClr val="667085"/>
                </a:solidFill>
                <a:latin typeface="Arial" pitchFamily="34" charset="0"/>
                <a:ea typeface="Arial" pitchFamily="34" charset="-122"/>
                <a:cs typeface="Arial" pitchFamily="34" charset="-120"/>
              </a:rPr>
              <a:t>האלכסון מציג תחזיות נכונות.</a:t>
            </a:r>
          </a:p>
          <a:p>
            <a:pPr marL="0" indent="0" algn="l" rtl="1">
              <a:buNone/>
            </a:pPr>
            <a:endParaRPr lang="he-IL" sz="1400" b="1" dirty="0">
              <a:solidFill>
                <a:srgbClr val="667085"/>
              </a:solidFill>
              <a:latin typeface="Arial" pitchFamily="34" charset="0"/>
              <a:ea typeface="Arial" pitchFamily="34" charset="-122"/>
              <a:cs typeface="Arial" pitchFamily="34" charset="-120"/>
            </a:endParaRPr>
          </a:p>
          <a:p>
            <a:pPr marL="0" indent="0" algn="l" rtl="1">
              <a:buNone/>
            </a:pPr>
            <a:r>
              <a:rPr lang="en-US" sz="1400" b="1" dirty="0">
                <a:solidFill>
                  <a:srgbClr val="667085"/>
                </a:solidFill>
                <a:latin typeface="Arial" pitchFamily="34" charset="0"/>
                <a:ea typeface="Arial" pitchFamily="34" charset="-122"/>
                <a:cs typeface="Arial" pitchFamily="34" charset="-120"/>
              </a:rPr>
              <a:t>Coefficients:</a:t>
            </a:r>
          </a:p>
          <a:p>
            <a:pPr marL="0" indent="0" algn="l" rtl="1">
              <a:buNone/>
            </a:pPr>
            <a:r>
              <a:rPr lang="he-IL" sz="1400" b="1" dirty="0">
                <a:solidFill>
                  <a:srgbClr val="667085"/>
                </a:solidFill>
                <a:latin typeface="Arial" pitchFamily="34" charset="0"/>
                <a:ea typeface="Arial" pitchFamily="34" charset="-122"/>
                <a:cs typeface="Arial" pitchFamily="34" charset="-120"/>
              </a:rPr>
              <a:t>מראים אילו משתנים משפיעים על הסיווג</a:t>
            </a:r>
          </a:p>
          <a:p>
            <a:pPr marL="0" indent="0" algn="l" rtl="1">
              <a:buNone/>
            </a:pPr>
            <a:r>
              <a:rPr lang="he-IL" sz="1400" b="1" dirty="0">
                <a:solidFill>
                  <a:srgbClr val="667085"/>
                </a:solidFill>
                <a:latin typeface="Arial" pitchFamily="34" charset="0"/>
                <a:ea typeface="Arial" pitchFamily="34" charset="-122"/>
                <a:cs typeface="Arial" pitchFamily="34" charset="-120"/>
              </a:rPr>
              <a:t>ל־</a:t>
            </a:r>
            <a:r>
              <a:rPr lang="en-US" sz="1400" b="1" dirty="0">
                <a:solidFill>
                  <a:srgbClr val="667085"/>
                </a:solidFill>
                <a:latin typeface="Arial" pitchFamily="34" charset="0"/>
                <a:ea typeface="Arial" pitchFamily="34" charset="-122"/>
                <a:cs typeface="Arial" pitchFamily="34" charset="-120"/>
              </a:rPr>
              <a:t>high / medium / low.</a:t>
            </a:r>
            <a:endParaRPr lang="en-US" sz="1400" b="1" dirty="0"/>
          </a:p>
        </p:txBody>
      </p:sp>
      <p:sp>
        <p:nvSpPr>
          <p:cNvPr id="7" name="Text 3"/>
          <p:cNvSpPr/>
          <p:nvPr/>
        </p:nvSpPr>
        <p:spPr>
          <a:xfrm>
            <a:off x="502920" y="6473952"/>
            <a:ext cx="7315200" cy="201168"/>
          </a:xfrm>
          <a:prstGeom prst="rect">
            <a:avLst/>
          </a:prstGeom>
          <a:noFill/>
          <a:ln/>
        </p:spPr>
        <p:txBody>
          <a:bodyPr wrap="square" lIns="0" tIns="0" rIns="0" bIns="0" rtlCol="0" anchor="ctr"/>
          <a:lstStyle/>
          <a:p>
            <a:pPr marL="0" indent="0" algn="l">
              <a:buNone/>
            </a:pPr>
            <a:r>
              <a:rPr lang="en-US" sz="850" dirty="0">
                <a:solidFill>
                  <a:srgbClr val="7A869A"/>
                </a:solidFill>
                <a:latin typeface="Arial" pitchFamily="34" charset="0"/>
                <a:ea typeface="Arial" pitchFamily="34" charset="-122"/>
                <a:cs typeface="Arial" pitchFamily="34" charset="-120"/>
              </a:rPr>
              <a:t>QuakeAnalyze · · אפליקציית Streamlit</a:t>
            </a:r>
            <a:endParaRPr lang="en-US" sz="850" dirty="0"/>
          </a:p>
        </p:txBody>
      </p:sp>
      <p:sp>
        <p:nvSpPr>
          <p:cNvPr id="8" name="Text 4"/>
          <p:cNvSpPr/>
          <p:nvPr/>
        </p:nvSpPr>
        <p:spPr>
          <a:xfrm>
            <a:off x="11384280" y="6473952"/>
            <a:ext cx="320040" cy="201168"/>
          </a:xfrm>
          <a:prstGeom prst="rect">
            <a:avLst/>
          </a:prstGeom>
          <a:noFill/>
          <a:ln/>
        </p:spPr>
        <p:txBody>
          <a:bodyPr wrap="square" lIns="0" tIns="0" rIns="0" bIns="0" rtlCol="0" anchor="ctr"/>
          <a:lstStyle/>
          <a:p>
            <a:pPr marL="0" indent="0" algn="r">
              <a:buNone/>
            </a:pPr>
            <a:r>
              <a:rPr lang="en-US" sz="850" dirty="0">
                <a:solidFill>
                  <a:srgbClr val="7A869A"/>
                </a:solidFill>
                <a:latin typeface="Arial" pitchFamily="34" charset="0"/>
                <a:ea typeface="Arial" pitchFamily="34" charset="-122"/>
                <a:cs typeface="Arial" pitchFamily="34" charset="-120"/>
              </a:rPr>
              <a:t>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20040"/>
            <a:ext cx="11155680" cy="502920"/>
          </a:xfrm>
          <a:prstGeom prst="rect">
            <a:avLst/>
          </a:prstGeom>
          <a:noFill/>
          <a:ln/>
        </p:spPr>
        <p:txBody>
          <a:bodyPr wrap="square" lIns="0" tIns="0" rIns="0" bIns="0" rtlCol="0" anchor="ctr"/>
          <a:lstStyle/>
          <a:p>
            <a:pPr marL="0" indent="0" algn="r">
              <a:buNone/>
            </a:pPr>
            <a:r>
              <a:rPr lang="en-US" sz="2800" b="1" dirty="0">
                <a:solidFill>
                  <a:srgbClr val="15213A"/>
                </a:solidFill>
                <a:latin typeface="Arial" pitchFamily="34" charset="0"/>
                <a:ea typeface="Arial" pitchFamily="34" charset="-122"/>
                <a:cs typeface="Arial" pitchFamily="34" charset="-120"/>
              </a:rPr>
              <a:t>Predict Risk: </a:t>
            </a:r>
            <a:endParaRPr lang="en-US" sz="2800" dirty="0"/>
          </a:p>
        </p:txBody>
      </p:sp>
      <p:sp>
        <p:nvSpPr>
          <p:cNvPr id="3" name="Text 1"/>
          <p:cNvSpPr/>
          <p:nvPr/>
        </p:nvSpPr>
        <p:spPr>
          <a:xfrm>
            <a:off x="502920" y="896112"/>
            <a:ext cx="11155680" cy="329184"/>
          </a:xfrm>
          <a:prstGeom prst="rect">
            <a:avLst/>
          </a:prstGeom>
          <a:noFill/>
          <a:ln/>
        </p:spPr>
        <p:txBody>
          <a:bodyPr wrap="square" lIns="0" tIns="0" rIns="0" bIns="0" rtlCol="0" anchor="ctr"/>
          <a:lstStyle/>
          <a:p>
            <a:pPr marL="0" indent="0" algn="r">
              <a:buNone/>
            </a:pPr>
            <a:r>
              <a:rPr lang="en-US" sz="1500" dirty="0">
                <a:solidFill>
                  <a:srgbClr val="667085"/>
                </a:solidFill>
                <a:latin typeface="Arial" pitchFamily="34" charset="0"/>
                <a:ea typeface="Arial" pitchFamily="34" charset="-122"/>
                <a:cs typeface="Arial" pitchFamily="34" charset="-120"/>
              </a:rPr>
              <a:t>המשתמש מזין ערכים ומקבל רמת סיכון + הסתברויות</a:t>
            </a:r>
            <a:endParaRPr lang="en-US" sz="1500" dirty="0"/>
          </a:p>
        </p:txBody>
      </p:sp>
      <p:pic>
        <p:nvPicPr>
          <p:cNvPr id="4" name="Image 0" descr="/mnt/data/Screenshot 2026-05-27 235236.png"/>
          <p:cNvPicPr>
            <a:picLocks noChangeAspect="1"/>
          </p:cNvPicPr>
          <p:nvPr/>
        </p:nvPicPr>
        <p:blipFill>
          <a:blip r:embed="rId3"/>
          <a:stretch>
            <a:fillRect/>
          </a:stretch>
        </p:blipFill>
        <p:spPr>
          <a:xfrm>
            <a:off x="502920" y="2034329"/>
            <a:ext cx="5577840" cy="2880782"/>
          </a:xfrm>
          <a:prstGeom prst="rect">
            <a:avLst/>
          </a:prstGeom>
        </p:spPr>
      </p:pic>
      <p:pic>
        <p:nvPicPr>
          <p:cNvPr id="5" name="Image 1" descr="/mnt/data/Screenshot 2026-05-27 235249.png"/>
          <p:cNvPicPr>
            <a:picLocks noChangeAspect="1"/>
          </p:cNvPicPr>
          <p:nvPr/>
        </p:nvPicPr>
        <p:blipFill>
          <a:blip r:embed="rId4"/>
          <a:stretch>
            <a:fillRect/>
          </a:stretch>
        </p:blipFill>
        <p:spPr>
          <a:xfrm>
            <a:off x="6355080" y="2265365"/>
            <a:ext cx="5349240" cy="2418710"/>
          </a:xfrm>
          <a:prstGeom prst="rect">
            <a:avLst/>
          </a:prstGeom>
        </p:spPr>
      </p:pic>
      <p:sp>
        <p:nvSpPr>
          <p:cNvPr id="6" name="Text 2"/>
          <p:cNvSpPr/>
          <p:nvPr/>
        </p:nvSpPr>
        <p:spPr>
          <a:xfrm>
            <a:off x="594360" y="5760720"/>
            <a:ext cx="1371600" cy="274320"/>
          </a:xfrm>
          <a:prstGeom prst="rect">
            <a:avLst/>
          </a:prstGeom>
          <a:noFill/>
          <a:ln/>
        </p:spPr>
        <p:txBody>
          <a:bodyPr wrap="square" lIns="508" tIns="508" rIns="508" bIns="508" rtlCol="0" anchor="t">
            <a:normAutofit/>
          </a:bodyPr>
          <a:lstStyle/>
          <a:p>
            <a:pPr marL="0" indent="0" algn="r">
              <a:buNone/>
            </a:pPr>
            <a:endParaRPr lang="en-US" sz="1450" dirty="0"/>
          </a:p>
        </p:txBody>
      </p:sp>
      <p:sp>
        <p:nvSpPr>
          <p:cNvPr id="7" name="Text 3"/>
          <p:cNvSpPr/>
          <p:nvPr/>
        </p:nvSpPr>
        <p:spPr>
          <a:xfrm>
            <a:off x="787400" y="5774436"/>
            <a:ext cx="9692640" cy="320040"/>
          </a:xfrm>
          <a:prstGeom prst="rect">
            <a:avLst/>
          </a:prstGeom>
          <a:noFill/>
          <a:ln/>
        </p:spPr>
        <p:txBody>
          <a:bodyPr wrap="square" lIns="508" tIns="508" rIns="508" bIns="508" rtlCol="0" anchor="t">
            <a:noAutofit/>
          </a:bodyPr>
          <a:lstStyle/>
          <a:p>
            <a:pPr marL="0" indent="0" algn="r">
              <a:buNone/>
            </a:pPr>
            <a:r>
              <a:rPr lang="he-IL" sz="1600" b="1" dirty="0">
                <a:solidFill>
                  <a:srgbClr val="667085"/>
                </a:solidFill>
                <a:latin typeface="Arial" pitchFamily="34" charset="0"/>
                <a:ea typeface="Arial" pitchFamily="34" charset="-122"/>
                <a:cs typeface="Arial" pitchFamily="34" charset="-120"/>
              </a:rPr>
              <a:t>האפליקציה מאפשרת חיזוי בזמן אמת:</a:t>
            </a:r>
          </a:p>
          <a:p>
            <a:pPr marL="0" indent="0" algn="r">
              <a:buNone/>
            </a:pPr>
            <a:r>
              <a:rPr lang="he-IL" sz="1600" b="1" dirty="0">
                <a:solidFill>
                  <a:srgbClr val="667085"/>
                </a:solidFill>
                <a:latin typeface="Arial" pitchFamily="34" charset="0"/>
                <a:ea typeface="Arial" pitchFamily="34" charset="-122"/>
                <a:cs typeface="Arial" pitchFamily="34" charset="-120"/>
              </a:rPr>
              <a:t>המשתמש מזין ערכים, והמודל מחזיר רמת סיכון והסתברויות לכל מחלקה.</a:t>
            </a:r>
            <a:endParaRPr lang="en-US" sz="1600" b="1" dirty="0"/>
          </a:p>
        </p:txBody>
      </p:sp>
      <p:sp>
        <p:nvSpPr>
          <p:cNvPr id="8" name="Text 4"/>
          <p:cNvSpPr/>
          <p:nvPr/>
        </p:nvSpPr>
        <p:spPr>
          <a:xfrm>
            <a:off x="502920" y="6473952"/>
            <a:ext cx="7315200" cy="201168"/>
          </a:xfrm>
          <a:prstGeom prst="rect">
            <a:avLst/>
          </a:prstGeom>
          <a:noFill/>
          <a:ln/>
        </p:spPr>
        <p:txBody>
          <a:bodyPr wrap="square" lIns="0" tIns="0" rIns="0" bIns="0" rtlCol="0" anchor="ctr"/>
          <a:lstStyle/>
          <a:p>
            <a:pPr marL="0" indent="0" algn="l">
              <a:buNone/>
            </a:pPr>
            <a:r>
              <a:rPr lang="en-US" sz="850" dirty="0">
                <a:solidFill>
                  <a:srgbClr val="7A869A"/>
                </a:solidFill>
                <a:latin typeface="Arial" pitchFamily="34" charset="0"/>
                <a:ea typeface="Arial" pitchFamily="34" charset="-122"/>
                <a:cs typeface="Arial" pitchFamily="34" charset="-120"/>
              </a:rPr>
              <a:t>QuakeAnalyze · · אפליקציית Streamlit</a:t>
            </a:r>
            <a:endParaRPr lang="en-US" sz="850" dirty="0"/>
          </a:p>
        </p:txBody>
      </p:sp>
      <p:sp>
        <p:nvSpPr>
          <p:cNvPr id="9" name="Text 5"/>
          <p:cNvSpPr/>
          <p:nvPr/>
        </p:nvSpPr>
        <p:spPr>
          <a:xfrm>
            <a:off x="11384280" y="6473952"/>
            <a:ext cx="320040" cy="201168"/>
          </a:xfrm>
          <a:prstGeom prst="rect">
            <a:avLst/>
          </a:prstGeom>
          <a:noFill/>
          <a:ln/>
        </p:spPr>
        <p:txBody>
          <a:bodyPr wrap="square" lIns="0" tIns="0" rIns="0" bIns="0" rtlCol="0" anchor="ctr"/>
          <a:lstStyle/>
          <a:p>
            <a:pPr marL="0" indent="0" algn="r">
              <a:buNone/>
            </a:pPr>
            <a:r>
              <a:rPr lang="en-US" sz="850" dirty="0">
                <a:solidFill>
                  <a:srgbClr val="7A869A"/>
                </a:solidFill>
                <a:latin typeface="Arial" pitchFamily="34" charset="0"/>
                <a:ea typeface="Arial" pitchFamily="34" charset="-122"/>
                <a:cs typeface="Arial" pitchFamily="34" charset="-120"/>
              </a:rPr>
              <a:t>7</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ערכת נושא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188</TotalTime>
  <Words>638</Words>
  <Application>Microsoft Office PowerPoint</Application>
  <PresentationFormat>מסך רחב</PresentationFormat>
  <Paragraphs>87</Paragraphs>
  <Slides>7</Slides>
  <Notes>7</Notes>
  <HiddenSlides>0</HiddenSlides>
  <MMClips>0</MMClips>
  <ScaleCrop>false</ScaleCrop>
  <HeadingPairs>
    <vt:vector size="6" baseType="variant">
      <vt:variant>
        <vt:lpstr>גופנים בשימוש</vt:lpstr>
      </vt:variant>
      <vt:variant>
        <vt:i4>1</vt:i4>
      </vt:variant>
      <vt:variant>
        <vt:lpstr>ערכת נושא</vt:lpstr>
      </vt:variant>
      <vt:variant>
        <vt:i4>1</vt:i4>
      </vt:variant>
      <vt:variant>
        <vt:lpstr>כותרות שקופיות</vt:lpstr>
      </vt:variant>
      <vt:variant>
        <vt:i4>7</vt:i4>
      </vt:variant>
    </vt:vector>
  </HeadingPairs>
  <TitlesOfParts>
    <vt:vector size="9" baseType="lpstr">
      <vt:lpstr>Arial</vt:lpstr>
      <vt:lpstr>Office Theme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Ariel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QuakeAnalyze — Earthquake Risk Classification</dc:title>
  <dc:subject>QuakeAnalyze M3 presentation</dc:subject>
  <dc:creator>OpenAI</dc:creator>
  <cp:lastModifiedBy>מעאויה חטיב</cp:lastModifiedBy>
  <cp:revision>10</cp:revision>
  <dcterms:created xsi:type="dcterms:W3CDTF">2026-06-11T04:26:27Z</dcterms:created>
  <dcterms:modified xsi:type="dcterms:W3CDTF">2026-06-11T07:37:06Z</dcterms:modified>
</cp:coreProperties>
</file>